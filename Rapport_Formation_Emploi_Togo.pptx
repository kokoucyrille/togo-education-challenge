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1585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3D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ADÉQUATION FORMATION-EMPLOI — TOGO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74152" y="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Challenge Éducation — Défi 2 — 2026</a:t>
            </a:r>
            <a:endParaRPr lang="en-US" sz="10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2C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212080" cy="6858000"/>
          </a:xfrm>
          <a:prstGeom prst="rect">
            <a:avLst/>
          </a:prstGeom>
          <a:solidFill>
            <a:srgbClr val="0B3D66"/>
          </a:solidFill>
          <a:ln/>
        </p:spPr>
      </p:sp>
      <p:sp>
        <p:nvSpPr>
          <p:cNvPr id="4" name="Shape 2"/>
          <p:cNvSpPr/>
          <p:nvPr/>
        </p:nvSpPr>
        <p:spPr>
          <a:xfrm>
            <a:off x="5074920" y="0"/>
            <a:ext cx="54864" cy="6858000"/>
          </a:xfrm>
          <a:prstGeom prst="rect">
            <a:avLst/>
          </a:prstGeom>
          <a:solidFill>
            <a:srgbClr val="17A2B8"/>
          </a:solidFill>
          <a:ln/>
        </p:spPr>
      </p:sp>
      <p:pic>
        <p:nvPicPr>
          <p:cNvPr id="5" name="Image 0" descr="ministere_education_nationa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68580"/>
            <a:ext cx="1531620" cy="1531620"/>
          </a:xfrm>
          <a:prstGeom prst="ellipse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292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🇹🇬  RÉPUBLIQUE TOGOLAISE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57200" y="196596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Adéquation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Formation-Emploi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Togo</a:t>
            </a:r>
            <a:endParaRPr lang="en-US" sz="3400" dirty="0"/>
          </a:p>
        </p:txBody>
      </p:sp>
      <p:sp>
        <p:nvSpPr>
          <p:cNvPr id="10" name="Text 5"/>
          <p:cNvSpPr/>
          <p:nvPr/>
        </p:nvSpPr>
        <p:spPr>
          <a:xfrm>
            <a:off x="502920" y="41605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stratégique de pilotage — Data Challenge Éducation, Défi 2 (2026)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502920" y="5074920"/>
            <a:ext cx="502920" cy="27432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2" name="Text 7"/>
          <p:cNvSpPr/>
          <p:nvPr/>
        </p:nvSpPr>
        <p:spPr>
          <a:xfrm>
            <a:off x="502920" y="5212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02920" y="546811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502920" y="581558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 de Travaux </a:t>
            </a:r>
            <a:r>
              <a:rPr lang="en-US" sz="1150" dirty="0" err="1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Informatiques</a:t>
            </a:r>
            <a:r>
              <a:rPr lang="en-US" sz="1150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502920" y="6263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destination du Ministère de l'Éducation Nationale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du Ministère de l'Enseignement Supérieur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760720" y="233172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0000" dirty="0"/>
          </a:p>
        </p:txBody>
      </p:sp>
      <p:sp>
        <p:nvSpPr>
          <p:cNvPr id="17" name="Text 12"/>
          <p:cNvSpPr/>
          <p:nvPr/>
        </p:nvSpPr>
        <p:spPr>
          <a:xfrm>
            <a:off x="5806440" y="37033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de formation technique analysés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travers 5 régions administratives du Togo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5760720" y="47091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0F4C78"/>
          </a:solidFill>
          <a:ln/>
        </p:spPr>
      </p:sp>
      <p:sp>
        <p:nvSpPr>
          <p:cNvPr id="19" name="Text 14"/>
          <p:cNvSpPr/>
          <p:nvPr/>
        </p:nvSpPr>
        <p:spPr>
          <a:xfrm>
            <a:off x="5989320" y="48646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IAFE national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989320" y="5120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52,0 / 100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8869680" y="49377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d'Adéquation</a:t>
            </a:r>
            <a:endParaRPr lang="en-US" sz="1050" dirty="0"/>
          </a:p>
          <a:p>
            <a:pPr marL="0" indent="0" algn="r">
              <a:buNone/>
            </a:pPr>
            <a:r>
              <a:rPr lang="en-US" sz="1050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Formation-Emploi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CADRAGE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et objectifs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Togo dispose de données ouvertes sur ses formations techniques, son enseignement supérieur, ses budgets et le chômage de ses diplômés — mais dispersées, hétérogènes, et jamais mises en regard les unes des autres.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324612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3558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81304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l'adéquation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l'offre de formation (technique et supérieure) et les besoins du marché de l'emploi.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0" y="324612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3977640" y="33558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77640" y="381304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Cartographier les déséquilibres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977640" y="41148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territoriaux de couverture et de composition de l'offre.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484632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956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🧮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541324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indice de référence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l'IAFE, statistiquement discuté (méthode CRITIC) et testé en robustesse.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484632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3977640" y="4956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977640" y="541324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Produire des recommandations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77640" y="57150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chiffrées et priorisées à destination du Ministère.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60920" y="2011680"/>
            <a:ext cx="4343400" cy="4434840"/>
          </a:xfrm>
          <a:prstGeom prst="roundRect">
            <a:avLst>
              <a:gd name="adj" fmla="val 2526"/>
            </a:avLst>
          </a:prstGeom>
          <a:solidFill>
            <a:srgbClr val="0B3D66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2240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DE L'ÉTUDE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35240" y="2697480"/>
            <a:ext cx="38404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régions administratives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établissements de formation technique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établissements d'enseignement supérieur (2018)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jeux de données (Data Challenge + Banque mondiale)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nationaux 2013-2022 (selon la source)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 · TOGO AI LAB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LA PLATEFORME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plateforme de pilotage en 5 sections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simplifiée, inspirée de Power BI / Looker Studio — navigation en 5 sections, filtres réduits à l'essentiel (Région, Année de création), design institutionnel homogène sur tout le tableau de bord.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2176272" cy="329184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788920"/>
            <a:ext cx="2176272" cy="82296"/>
          </a:xfrm>
          <a:prstGeom prst="rect">
            <a:avLst/>
          </a:prstGeom>
          <a:solidFill>
            <a:srgbClr val="0B3D66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30358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993392" y="29992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" y="3611880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4343400"/>
            <a:ext cx="1847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: KPI, tendances, résumé exécutif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25496" y="2788920"/>
            <a:ext cx="2176272" cy="329184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25496" y="2788920"/>
            <a:ext cx="2176272" cy="82296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3" name="Text 11"/>
          <p:cNvSpPr/>
          <p:nvPr/>
        </p:nvSpPr>
        <p:spPr>
          <a:xfrm>
            <a:off x="2990088" y="30358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315968" y="29992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90088" y="3611880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de l'emploi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90088" y="4343400"/>
            <a:ext cx="1847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Chômage, budgets, offre/demande, priorisation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48072" y="2788920"/>
            <a:ext cx="2176272" cy="329184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48072" y="2788920"/>
            <a:ext cx="2176272" cy="82296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9" name="Text 17"/>
          <p:cNvSpPr/>
          <p:nvPr/>
        </p:nvSpPr>
        <p:spPr>
          <a:xfrm>
            <a:off x="5312664" y="30358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🏫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638544" y="29992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12664" y="3611880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professionnelle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12664" y="4343400"/>
            <a:ext cx="1847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Cartographie, offre technique, ens. supérieur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70648" y="2788920"/>
            <a:ext cx="2176272" cy="329184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70648" y="2788920"/>
            <a:ext cx="2176272" cy="82296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30358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961120" y="29992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35240" y="3611880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&amp; Recommandations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635240" y="4343400"/>
            <a:ext cx="1847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Graphes, IAFE, ML, clustering, Policy Dashboard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793224" y="2788920"/>
            <a:ext cx="2176272" cy="329184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793224" y="2788920"/>
            <a:ext cx="2176272" cy="82296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1" name="Text 29"/>
          <p:cNvSpPr/>
          <p:nvPr/>
        </p:nvSpPr>
        <p:spPr>
          <a:xfrm>
            <a:off x="9957816" y="303580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ℹ️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1283696" y="29992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6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57816" y="3611880"/>
            <a:ext cx="18470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957816" y="4343400"/>
            <a:ext cx="184708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Auteur, méthodologie, sources de données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 · TOGO AI LAB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SOUS LE CAPOT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et fonctionnalités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237744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Streamlit (multipage, 5 sections)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(graphiques interactifs) · Folium (cartographie)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+ python-louvain + pyvis (théorie des graphes)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(Machine Learning, clustering, PCA)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applicatif : st.cache_data / st.cache_resource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4709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51206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 automatique sous chaque graphique clé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/ Excel / PNG des tableaux et graphiques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calculées dynamiquement (pas de texte générique)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6364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DONNÉES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2377440"/>
            <a:ext cx="5486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 de formation technique géolocalisés (256)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établissements d'enseignement supérieur (2018)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socio-éducatifs nationaux (effectifs, féminisation…)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de l'enseignement supérieur (voté / exécuté)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mondiale : chômage des diplômés, dépense/étudiant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RGPH-5 (INSEED Togo, nov. 2022) — population régionale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 · TOGO AI LAB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INDICATEURS CLÉS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Principaux KPI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18541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8437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techniques recensées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19272" y="20574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9272" y="218541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10712" y="28437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Régions couvertes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35624" y="20574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35624" y="218541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27064" y="28437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Préfectures couvertes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51976" y="20574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51976" y="218541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43416" y="28437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Universités recensées (2018)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6576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78561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51,5 %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94360" y="44439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Féminisation des étudiants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9272" y="36576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19272" y="378561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: 1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410712" y="44439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étudiants / enseignants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35624" y="36576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35624" y="378561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23,6 %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227064" y="44439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des filières scientifiques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51976" y="365760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951976" y="378561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7,1 % (2022)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043416" y="44439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Chômage des diplômés du sup.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Indicateurs sur données réellement observées ; les valeurs nationales appliquées uniformément aux régions sont signalées dans le tableau de bord.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 · TOGO AI LAB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LECTURE DES DONNÉES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Analyses et visualisations clés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techniques par région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6364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FEAS par région (0-100)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534924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5F7FA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5468112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: </a:t>
            </a: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Maritime cumule le plus grand volume d'établissements (154) et le meilleur score FEAS (81,7/100) — mais l'analyse par théorie des graphes et l'indice IAFE (section suivante) révèlent que ce volume masque un déséquilibre de composition de l'offre.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 · TOGO AI LAB</a:t>
            </a:r>
            <a:endParaRPr lang="en-US" sz="900" dirty="0"/>
          </a:p>
        </p:txBody>
      </p:sp>
      <p:pic>
        <p:nvPicPr>
          <p:cNvPr id="12" name="Picture 11" descr="chart1_etablisse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31720"/>
            <a:ext cx="5394960" cy="2788920"/>
          </a:xfrm>
          <a:prstGeom prst="rect">
            <a:avLst/>
          </a:prstGeom>
        </p:spPr>
      </p:pic>
      <p:pic>
        <p:nvPicPr>
          <p:cNvPr id="13" name="Picture 12" descr="chart2_fe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331720"/>
            <a:ext cx="539496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SYNTHÈSE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majeurs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0B3D6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94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IAFE NATIONAL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52,0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 — pondéré par la population régionale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d'Adéquation Formation-Emploi : 40% Offre + 25% Budget/étudiant + 20% Insertion + 15% Chômage (inversé).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5029200"/>
            <a:ext cx="3017520" cy="18288"/>
          </a:xfrm>
          <a:prstGeom prst="rect">
            <a:avLst/>
          </a:prstGeom>
          <a:solidFill>
            <a:srgbClr val="1E5F8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1663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région : Kara 56,8 · Maritime 56,5 · Centrale 53,9 · Savanes 49,6 · Plateaux 39,9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1 (Impact × Urgence)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237744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FCEFEF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24871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8163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76,5 · Urgence 44,8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34290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FCEFEF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35387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38679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55,7 · Urgence 35,0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97680" y="4572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Chômage des diplômés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97680" y="493776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5029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7,1 %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526280" y="5623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2022 — proche du meilleur niveau observé depuis 2006 (fenêtre favorable pour agir)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01000" y="19659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transversal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01000" y="2377440"/>
            <a:ext cx="3703320" cy="397764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76200" dist="25400" dir="5400000" algn="bl" rotWithShape="0">
              <a:srgbClr val="0B1F33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0" y="25603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Togo souffre moins d'un déficit de volume de formation que d'un déséquilibre de composition de son offre.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361188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Maritime, la mieux dotée en établissements (154, score FEAS 81,7/100), affiche pourtant le score d'insertion proxy le plus faible du pays — l'abondance de l'offre ne garantit pas son adéquation aux besoins.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516636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d'équité territoriale du système : 74,1/100. Opportunity Index le plus élevé : Savanes (100/100).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 · TOGO AI LAB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PASSAGE À L'ACTION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stratégiques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63500" dist="25400" dir="5400000" algn="bl" rotWithShape="0">
              <a:srgbClr val="0B1F33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645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0848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Rééquilibrer l'offre territoriale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44144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Prioriser l'ouverture de centres dans les Savanes (0,70 établissement/100k hab., Opportunity Index 100/100).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63500" dist="25400" dir="5400000" algn="bl" rotWithShape="0">
              <a:srgbClr val="0B1F33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03720" y="20848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Traiter les régions Priorité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03720" y="244144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Plateaux et Centrale cumulent déficit structurel et urgence démographique : programmer leur extension.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447288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63500" dist="25400" dir="5400000" algn="bl" rotWithShape="0">
              <a:srgbClr val="0B1F33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5844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3D6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84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566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risque de saturation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922776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catégorie « Formation Professionnelle autre » présente l'indice de saturation proxy le plus élevé.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3447288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63500" dist="25400" dir="5400000" algn="bl" rotWithShape="0">
              <a:srgbClr val="0B1F33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35844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7A2B8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584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03720" y="3566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les filières scientifiques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3922776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23,6% des effectifs seulement ; accentuer la féminisation de ces filières, très inférieure à la moyenne.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928616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63500" dist="25400" dir="5400000" algn="bl" rotWithShape="0">
              <a:srgbClr val="0B1F33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506577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6E4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0657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50474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Cibler l'investissement budgétaire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80160" y="540410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région au FEAS le plus bas (Savanes, 31,3/100) doit être prioritaire pour tout effort d'investissement.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4928616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6EBF1"/>
            </a:solidFill>
            <a:prstDash val="solid"/>
          </a:ln>
          <a:effectLst>
            <a:outerShdw blurRad="63500" dist="25400" dir="5400000" algn="bl" rotWithShape="0">
              <a:srgbClr val="0B1F33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506577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64545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50657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03720" y="50474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Combler le déficit de données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03720" y="540410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Nomenclature de filières, budget régionalisé et enquête de traçabilité des diplômés — condition de fiabilité.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 · TOGO AI LAB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PROCHAINES ÉTAPES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d'évolution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tableau de bord atteint la limite de ce que les données actuelles permettent. Quatre priorités de collecte conditionnent le passage d'une estimation indicative à un pilotage opérationnel.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697480"/>
            <a:ext cx="548640" cy="548640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8096" y="3246120"/>
            <a:ext cx="18288" cy="411480"/>
          </a:xfrm>
          <a:prstGeom prst="rect">
            <a:avLst/>
          </a:prstGeom>
          <a:solidFill>
            <a:srgbClr val="D6DEE6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6791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Nomenclature de filières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99008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Renseigner systématiquement la spécialité de chaque établissement technique (actuellement estimée par mots-clés).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657600"/>
            <a:ext cx="548640" cy="548640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8096" y="4206240"/>
            <a:ext cx="18288" cy="411480"/>
          </a:xfrm>
          <a:prstGeom prst="rect">
            <a:avLst/>
          </a:prstGeom>
          <a:solidFill>
            <a:srgbClr val="D6DEE6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6393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régionalisé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9502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Ventiler l'exécution budgétaire par région pour remplacer la composante nationale uniforme de l'IAFE.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617720"/>
            <a:ext cx="548640" cy="548640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617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8096" y="5166360"/>
            <a:ext cx="18288" cy="411480"/>
          </a:xfrm>
          <a:prstGeom prst="rect">
            <a:avLst/>
          </a:prstGeom>
          <a:solidFill>
            <a:srgbClr val="D6DEE6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5994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de traçabilité des diplômés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491032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study par filière, diplôme et région — condition d'un véritable indicateur d'insertion professionnelle.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5577840"/>
            <a:ext cx="548640" cy="548640"/>
          </a:xfrm>
          <a:prstGeom prst="ellipse">
            <a:avLst/>
          </a:prstGeom>
          <a:solidFill>
            <a:srgbClr val="0B3D6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5577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5595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régulière des séries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587044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indicateurs nationaux s'arrêtent en 2018-2019 ; instaurer un suivi annuel pour un pilotage récent.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 · TOGO AI LAB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2C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2C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base solide pour la décision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tableau de bord transforme des données ouvertes dispersées en un instrument de pilotage unique - cartographie, indice composite IAFE, théorie des graphes et recommandations </a:t>
            </a:r>
            <a:r>
              <a:rPr lang="en-US" sz="1450" dirty="0" err="1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chiffrées</a:t>
            </a:r>
            <a:r>
              <a:rPr lang="en-US" sz="1450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au service d'une meilleure adéquation entre formation et emploi au Togo.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0F4C7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611880"/>
            <a:ext cx="10424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IAFE national 52,0/100  ·  </a:t>
            </a:r>
            <a:r>
              <a:rPr lang="en-US" sz="1500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régions en Priorité 1 (Plateaux, Centrale)  ·  256 établissements cartographiés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5257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7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REMERCIEMENTS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BF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Ministère de l'Éducation Nationale et au Ministère de l'Enseignement Supérieur, aux organisateurs du Data Challenge Éducation, et à toute personne ayant contribué à l'ouverture de ces données.</a:t>
            </a:r>
            <a:endParaRPr lang="en-US" sz="1200" dirty="0"/>
          </a:p>
        </p:txBody>
      </p:sp>
      <p:pic>
        <p:nvPicPr>
          <p:cNvPr id="11" name="Image 0" descr="ministere_education_nationa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5257800"/>
            <a:ext cx="685800" cy="685800"/>
          </a:xfrm>
          <a:prstGeom prst="ellipse">
            <a:avLst/>
          </a:prstGeom>
        </p:spPr>
      </p:pic>
      <p:pic>
        <p:nvPicPr>
          <p:cNvPr id="12" name="Image 1" descr="ministere_enseignement_superieu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5257800"/>
            <a:ext cx="685800" cy="685800"/>
          </a:xfrm>
          <a:prstGeom prst="ellipse">
            <a:avLst/>
          </a:prstGeom>
        </p:spPr>
      </p:pic>
      <p:pic>
        <p:nvPicPr>
          <p:cNvPr id="13" name="Image 2" descr="togo_ai_la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1440" y="5257800"/>
            <a:ext cx="685800" cy="685800"/>
          </a:xfrm>
          <a:prstGeom prst="ellipse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 Kokou Cyrille · Ingénieur de Travaux </a:t>
            </a:r>
            <a:r>
              <a:rPr lang="en-US" sz="1000" dirty="0" err="1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Informatiques</a:t>
            </a:r>
            <a:r>
              <a:rPr lang="en-US" sz="10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183112" y="6355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1243</Words>
  <Application>Microsoft Office PowerPoint</Application>
  <PresentationFormat>Grand écran</PresentationFormat>
  <Paragraphs>192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Kokou Cyrille DAYO</cp:lastModifiedBy>
  <cp:revision>2</cp:revision>
  <dcterms:created xsi:type="dcterms:W3CDTF">2026-07-29T19:39:42Z</dcterms:created>
  <dcterms:modified xsi:type="dcterms:W3CDTF">2026-07-30T01:02:34Z</dcterms:modified>
</cp:coreProperties>
</file>